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3429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46304" cy="3429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 spc="1900">
                <a:solidFill>
                  <a:srgbClr val="16A34A"/>
                </a:solidFill>
                <a:latin typeface="Segoe UI"/>
              </a:rPr>
              <a:t>HACKATHON 2026  ·  COMMUNITY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0F172A"/>
                </a:solidFill>
                <a:latin typeface="Segoe UI"/>
              </a:rPr>
              <a:t>Your neighbor has solar.</a:t>
            </a:r>
          </a:p>
          <a:p>
            <a:r>
              <a:rPr sz="4600" b="1" i="0">
                <a:solidFill>
                  <a:srgbClr val="0F172A"/>
                </a:solidFill>
                <a:latin typeface="Segoe UI"/>
              </a:rPr>
              <a:t>You're paying full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5803D"/>
                </a:solidFill>
                <a:latin typeface="Segoe UI"/>
              </a:rPr>
              <a:t>What if you could share it — fairly, transparently, on-chain?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37560"/>
            <a:ext cx="3429000" cy="64008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3429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Segoe UI"/>
              </a:rPr>
              <a:t>Introducing  GridRight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475569"/>
                </a:solidFill>
                <a:latin typeface="Segoe UI"/>
              </a:rPr>
              <a:t>Community solar pool  ·  Seller contributions  ·  Operator-governed  ·  Solana settlement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54880"/>
            <a:ext cx="4036161" cy="47548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500" b="1" i="0">
                <a:solidFill>
                  <a:srgbClr val="78350F"/>
                </a:solidFill>
                <a:latin typeface="Segoe UI"/>
              </a:rPr>
              <a:t>Live → gridright.netlify.app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76241" y="4754880"/>
            <a:ext cx="3279038" cy="47548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Built by Gaurav Poudel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75569"/>
                </a:solidFill>
                <a:latin typeface="Segoe U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3429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46304" cy="3429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 spc="1900">
                <a:solidFill>
                  <a:srgbClr val="16A34A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0F172A"/>
                </a:solidFill>
                <a:latin typeface="Segoe UI"/>
              </a:rPr>
              <a:t>Your solar panels sit idle half the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F172A"/>
                </a:solidFill>
                <a:latin typeface="Segoe UI"/>
              </a:rPr>
              <a:t>A typical rooftop produces more energy than a home can use — especially at noon.</a:t>
            </a:r>
          </a:p>
          <a:p>
            <a:pPr algn="l"/>
            <a:r>
              <a:rPr sz="2100" b="0" i="0">
                <a:solidFill>
                  <a:srgbClr val="0F172A"/>
                </a:solidFill>
                <a:latin typeface="Segoe UI"/>
              </a:rPr>
              <a:t/>
            </a:r>
          </a:p>
          <a:p>
            <a:pPr algn="l"/>
            <a:r>
              <a:rPr sz="2100" b="0" i="0">
                <a:solidFill>
                  <a:srgbClr val="0F172A"/>
                </a:solidFill>
                <a:latin typeface="Segoe UI"/>
              </a:rPr>
              <a:t>That surplus just goes to waste.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75569"/>
                </a:solidFill>
                <a:latin typeface="Segoe UI"/>
              </a:rPr>
              <a:t>A household that both produces and consumes energy is a  prosumer.  Today, prosumers have no good way to share their surplus.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874519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F172A"/>
                </a:solidFill>
                <a:latin typeface="Segoe UI"/>
              </a:rPr>
              <a:t>Meanwhile, your neighbor is buying grid power at full retail price.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88036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5803D"/>
                </a:solidFill>
                <a:latin typeface="Segoe UI"/>
              </a:rPr>
              <a:t>Sun is free.  Power is not.</a:t>
            </a:r>
          </a:p>
          <a:p>
            <a:pPr algn="l"/>
            <a:r>
              <a:rPr sz="2300" b="1" i="0">
                <a:solidFill>
                  <a:srgbClr val="15803D"/>
                </a:solidFill>
                <a:latin typeface="Segoe UI"/>
              </a:rPr>
              <a:t>The gap between them is lost money for everyone.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4114800"/>
            <a:ext cx="5532120" cy="12344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4114800"/>
            <a:ext cx="100584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114800"/>
            <a:ext cx="50749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0" i="0">
                <a:solidFill>
                  <a:srgbClr val="0F172A"/>
                </a:solidFill>
                <a:latin typeface="Segoe UI"/>
              </a:rPr>
              <a:t>Net metering — how most countries credit surplus solar — pays only a fraction of the retail price. Communities deserve better.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75569"/>
                </a:solidFill>
                <a:latin typeface="Segoe U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3429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46304" cy="3429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 spc="1900">
                <a:solidFill>
                  <a:srgbClr val="16A34A"/>
                </a:solidFill>
                <a:latin typeface="Segoe UI"/>
              </a:rPr>
              <a:t>THE HIDDEN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0F172A"/>
                </a:solidFill>
                <a:latin typeface="Segoe UI"/>
              </a:rPr>
              <a:t>No easy way to share solar between neighbors.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indent="-381000">
              <a:spcBef>
                <a:spcPts val="700"/>
              </a:spcBef>
            </a:pPr>
            <a:r>
              <a:rPr sz="21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2100" b="0" i="0">
                <a:solidFill>
                  <a:srgbClr val="0F172A"/>
                </a:solidFill>
                <a:latin typeface="Segoe UI"/>
              </a:rPr>
              <a:t>Feed-in tariffs pay a fraction of retail price — not real value.</a:t>
            </a:r>
          </a:p>
          <a:p>
            <a:pPr marL="381000" indent="-381000">
              <a:spcBef>
                <a:spcPts val="700"/>
              </a:spcBef>
            </a:pPr>
            <a:r>
              <a:rPr sz="21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2100" b="0" i="0">
                <a:solidFill>
                  <a:srgbClr val="0F172A"/>
                </a:solidFill>
                <a:latin typeface="Segoe UI"/>
              </a:rPr>
              <a:t>Sending surplus to your own community? Almost impossible today.</a:t>
            </a:r>
          </a:p>
          <a:p>
            <a:pPr marL="381000" indent="-381000">
              <a:spcBef>
                <a:spcPts val="700"/>
              </a:spcBef>
            </a:pPr>
            <a:r>
              <a:rPr sz="21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2100" b="0" i="0">
                <a:solidFill>
                  <a:srgbClr val="0F172A"/>
                </a:solidFill>
                <a:latin typeface="Segoe UI"/>
              </a:rPr>
              <a:t>Communities want to pool their DERs (Distributed Energy Resources) — rooftops, batteries, EVs — but the tools don't exist.</a:t>
            </a:r>
          </a:p>
          <a:p>
            <a:pPr marL="381000" indent="-381000">
              <a:spcBef>
                <a:spcPts val="700"/>
              </a:spcBef>
            </a:pPr>
            <a:r>
              <a:rPr sz="21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2100" b="0" i="0">
                <a:solidFill>
                  <a:srgbClr val="0F172A"/>
                </a:solidFill>
                <a:latin typeface="Segoe UI"/>
              </a:rPr>
              <a:t>Energy bills rise every year, even when the sun is shining on your block.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11292840" cy="11430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00584" cy="1143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8356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0" i="0">
                <a:solidFill>
                  <a:srgbClr val="0F172A"/>
                </a:solidFill>
                <a:latin typeface="Segoe UI"/>
              </a:rPr>
              <a:t>50% of people can't put panels on their roof — renters, apartments, shaded homes.</a:t>
            </a:r>
          </a:p>
          <a:p>
            <a:r>
              <a:rPr sz="2000" b="0" i="0">
                <a:solidFill>
                  <a:srgbClr val="0F172A"/>
                </a:solidFill>
                <a:latin typeface="Segoe UI"/>
              </a:rPr>
              <a:t>They are locked out of the solar revolution entirely.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75569"/>
                </a:solidFill>
                <a:latin typeface="Segoe U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3429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46304" cy="3429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 spc="1900">
                <a:solidFill>
                  <a:srgbClr val="16A34A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0F172A"/>
                </a:solidFill>
                <a:latin typeface="Segoe UI"/>
              </a:rPr>
              <a:t>A community energy pool.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475569"/>
                </a:solidFill>
                <a:latin typeface="Segoe UI"/>
              </a:rPr>
              <a:t>One shared pool for a neighborhood — sellers contribute, an operator governs, everyone saves.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611880" cy="1965960"/>
          </a:xfrm>
          <a:prstGeom prst="rect">
            <a:avLst/>
          </a:prstGeom>
          <a:solidFill>
            <a:srgbClr val="ECFDF5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251460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5803D"/>
                </a:solidFill>
                <a:latin typeface="Segoe UI"/>
              </a:rPr>
              <a:t>Sellers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Segoe UI"/>
              </a:rPr>
              <a:t>Households with solar contribute their surplus kWh to the shared community pool.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4" y="2286000"/>
            <a:ext cx="3611880" cy="1965960"/>
          </a:xfrm>
          <a:prstGeom prst="rect">
            <a:avLst/>
          </a:prstGeom>
          <a:solidFill>
            <a:srgbClr val="ECFDF5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9704" y="251460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31089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5803D"/>
                </a:solidFill>
                <a:latin typeface="Segoe UI"/>
              </a:rPr>
              <a:t>Community 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3584448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Segoe UI"/>
              </a:rPr>
              <a:t>The pool aggregates all contributions and dispatches energy where it's needed.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8" y="2286000"/>
            <a:ext cx="3611880" cy="1965960"/>
          </a:xfrm>
          <a:prstGeom prst="rect">
            <a:avLst/>
          </a:prstGeom>
          <a:solidFill>
            <a:srgbClr val="ECFDF5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93608" y="251460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31089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15803D"/>
                </a:solidFill>
                <a:latin typeface="Segoe UI"/>
              </a:rPr>
              <a:t>Operator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584448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Segoe UI"/>
              </a:rPr>
              <a:t>A utility / co-op operator runs the policy layer, approves flows, and resolves exceptions.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803D"/>
                </a:solidFill>
                <a:latin typeface="Segoe UI"/>
              </a:rPr>
              <a:t>One neighborhood.  One pool.  Fair price.  Real savings.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75569"/>
                </a:solidFill>
                <a:latin typeface="Segoe U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3429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46304" cy="3429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 spc="1900">
                <a:solidFill>
                  <a:srgbClr val="16A34A"/>
                </a:solidFill>
                <a:latin typeface="Segoe UI"/>
              </a:rPr>
              <a:t>HOW IT WORKS — END-TO-END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0F172A"/>
                </a:solidFill>
                <a:latin typeface="Segoe UI"/>
              </a:rPr>
              <a:t>From rooftop to reward in five steps.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2995491600" y="1920240"/>
            <a:ext cx="1627632" cy="1828800"/>
          </a:xfrm>
          <a:prstGeom prst="rect">
            <a:avLst/>
          </a:prstGeom>
          <a:solidFill>
            <a:srgbClr val="ECFDF5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2995491600" y="2066544"/>
            <a:ext cx="1627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  <a:latin typeface="Segoe UI"/>
              </a:rPr>
              <a:t>☀️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995546464" y="2578608"/>
            <a:ext cx="15179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Segoe UI"/>
              </a:rPr>
              <a:t>Seller</a:t>
            </a:r>
          </a:p>
          <a:p>
            <a:pPr algn="ctr"/>
            <a:r>
              <a:rPr sz="1500" b="1" i="0">
                <a:solidFill>
                  <a:srgbClr val="0F172A"/>
                </a:solidFill>
                <a:latin typeface="Segoe UI"/>
              </a:rPr>
              <a:t>contributes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995564752" y="3090672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Segoe UI"/>
              </a:rPr>
              <a:t>Surplus kWh logged to the 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1302192400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95753136400" y="1920240"/>
            <a:ext cx="1627632" cy="1828800"/>
          </a:xfrm>
          <a:prstGeom prst="rect">
            <a:avLst/>
          </a:prstGeom>
          <a:solidFill>
            <a:srgbClr val="ECFDF5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95753136400" y="2066544"/>
            <a:ext cx="1627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  <a:latin typeface="Segoe UI"/>
              </a:rPr>
              <a:t>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5753191264" y="2578608"/>
            <a:ext cx="15179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Segoe UI"/>
              </a:rPr>
              <a:t>Community</a:t>
            </a:r>
          </a:p>
          <a:p>
            <a:pPr algn="ctr"/>
            <a:r>
              <a:rPr sz="1500" b="1" i="0">
                <a:solidFill>
                  <a:srgbClr val="0F172A"/>
                </a:solidFill>
                <a:latin typeface="Segoe UI"/>
              </a:rPr>
              <a:t>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5753209552" y="3090672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Segoe UI"/>
              </a:rPr>
              <a:t>Aggregates DER supply &amp;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059837200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18510781200" y="1920240"/>
            <a:ext cx="1627632" cy="1828800"/>
          </a:xfrm>
          <a:prstGeom prst="rect">
            <a:avLst/>
          </a:prstGeom>
          <a:solidFill>
            <a:srgbClr val="FEF3C7"/>
          </a:solidFill>
          <a:ln w="1905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8510781200" y="2066544"/>
            <a:ext cx="1627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  <a:latin typeface="Segoe UI"/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8510836064" y="2578608"/>
            <a:ext cx="15179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Segoe UI"/>
              </a:rPr>
              <a:t>AI recommends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8510854352" y="3090672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Segoe UI"/>
              </a:rPr>
              <a:t>Ranks import / export 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6817482000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41268426000" y="1920240"/>
            <a:ext cx="1627632" cy="1828800"/>
          </a:xfrm>
          <a:prstGeom prst="rect">
            <a:avLst/>
          </a:prstGeom>
          <a:solidFill>
            <a:srgbClr val="FEF3C7"/>
          </a:solidFill>
          <a:ln w="1905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1268426000" y="2066544"/>
            <a:ext cx="1627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  <a:latin typeface="Segoe UI"/>
              </a:rPr>
              <a:t>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1268480864" y="2578608"/>
            <a:ext cx="15179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Segoe UI"/>
              </a:rPr>
              <a:t>Operator</a:t>
            </a:r>
          </a:p>
          <a:p>
            <a:pPr algn="ctr"/>
            <a:r>
              <a:rPr sz="1500" b="1" i="0">
                <a:solidFill>
                  <a:srgbClr val="0F172A"/>
                </a:solidFill>
                <a:latin typeface="Segoe UI"/>
              </a:rPr>
              <a:t>approves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41268499152" y="3090672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Segoe UI"/>
              </a:rPr>
              <a:t>Policy layer + exception queue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9575126800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64026070800" y="1920240"/>
            <a:ext cx="1627632" cy="1828800"/>
          </a:xfrm>
          <a:prstGeom prst="rect">
            <a:avLst/>
          </a:prstGeom>
          <a:solidFill>
            <a:srgbClr val="EDE9FE"/>
          </a:solidFill>
          <a:ln w="1905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64026070800" y="2066544"/>
            <a:ext cx="1627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  <a:latin typeface="Segoe UI"/>
              </a:rPr>
              <a:t>⛓️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4026125664" y="2578608"/>
            <a:ext cx="15179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Segoe UI"/>
              </a:rPr>
              <a:t>Solana</a:t>
            </a:r>
          </a:p>
          <a:p>
            <a:pPr algn="ctr"/>
            <a:r>
              <a:rPr sz="1500" b="1" i="0">
                <a:solidFill>
                  <a:srgbClr val="0F172A"/>
                </a:solidFill>
                <a:latin typeface="Segoe UI"/>
              </a:rPr>
              <a:t>settles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4026143952" y="3090672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Segoe UI"/>
              </a:rPr>
              <a:t>Anchor program records on-chain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332771600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75569"/>
                </a:solidFill>
                <a:latin typeface="Segoe U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86783715600" y="1920240"/>
            <a:ext cx="1627632" cy="1828800"/>
          </a:xfrm>
          <a:prstGeom prst="rect">
            <a:avLst/>
          </a:prstGeom>
          <a:solidFill>
            <a:srgbClr val="EDE9FE"/>
          </a:solidFill>
          <a:ln w="1905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86783715600" y="2066544"/>
            <a:ext cx="16276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F172A"/>
                </a:solidFill>
                <a:latin typeface="Segoe UI"/>
              </a:rPr>
              <a:t>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6783770464" y="2578608"/>
            <a:ext cx="15179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Segoe UI"/>
              </a:rPr>
              <a:t>cNFT badge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6783788752" y="3090672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Segoe UI"/>
              </a:rPr>
              <a:t>Bubblegum milestone reward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069080"/>
            <a:ext cx="2033991" cy="4498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 i="0">
                <a:solidFill>
                  <a:srgbClr val="78350F"/>
                </a:solidFill>
                <a:latin typeface="Segoe UI"/>
              </a:rPr>
              <a:t>Pool Dispatch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74071" y="4069080"/>
            <a:ext cx="2976189" cy="4498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 i="0">
                <a:solidFill>
                  <a:srgbClr val="78350F"/>
                </a:solidFill>
                <a:latin typeface="Segoe UI"/>
              </a:rPr>
              <a:t>Operator Policy Layer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33140" y="4069080"/>
            <a:ext cx="3329513" cy="4498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Human-in-the-Loop (HITL)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45533" y="4069080"/>
            <a:ext cx="2976189" cy="4498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Compressed NFT (cNFT)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75569"/>
                </a:solidFill>
                <a:latin typeface="Segoe U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3429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46304" cy="3429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 spc="1900">
                <a:solidFill>
                  <a:srgbClr val="16A34A"/>
                </a:solidFill>
                <a:latin typeface="Segoe UI"/>
              </a:rPr>
              <a:t>AI ARCHITECTURE — THE HUMAN-IN-THE-LOOP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0F172A"/>
                </a:solidFill>
                <a:latin typeface="Segoe UI"/>
              </a:rPr>
              <a:t>AI recommends.  Operator decides.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40680" cy="2880360"/>
          </a:xfrm>
          <a:prstGeom prst="rect">
            <a:avLst/>
          </a:prstGeom>
          <a:solidFill>
            <a:srgbClr val="EDE9FE"/>
          </a:solidFill>
          <a:ln w="1905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  <a:latin typeface="Segoe UI"/>
              </a:rPr>
              <a:t>🤖  What the AI engine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5074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indent="-381000">
              <a:spcBef>
                <a:spcPts val="600"/>
              </a:spcBef>
            </a:pPr>
            <a:r>
              <a:rPr sz="17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700" b="0" i="0">
                <a:solidFill>
                  <a:srgbClr val="0F172A"/>
                </a:solidFill>
                <a:latin typeface="Segoe UI"/>
              </a:rPr>
              <a:t>Reads real-time pool state — supply, demand, price signals</a:t>
            </a:r>
          </a:p>
          <a:p>
            <a:pPr marL="381000" indent="-381000">
              <a:spcBef>
                <a:spcPts val="600"/>
              </a:spcBef>
            </a:pPr>
            <a:r>
              <a:rPr sz="17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700" b="0" i="0">
                <a:solidFill>
                  <a:srgbClr val="0F172A"/>
                </a:solidFill>
                <a:latin typeface="Segoe UI"/>
              </a:rPr>
              <a:t>Forecasts solar production curves over the day</a:t>
            </a:r>
          </a:p>
          <a:p>
            <a:pPr marL="381000" indent="-381000">
              <a:spcBef>
                <a:spcPts val="600"/>
              </a:spcBef>
            </a:pPr>
            <a:r>
              <a:rPr sz="17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700" b="0" i="0">
                <a:solidFill>
                  <a:srgbClr val="0F172A"/>
                </a:solidFill>
                <a:latin typeface="Segoe UI"/>
              </a:rPr>
              <a:t>Ranks import / export flows by cost and pool balance</a:t>
            </a:r>
          </a:p>
          <a:p>
            <a:pPr marL="381000" indent="-381000">
              <a:spcBef>
                <a:spcPts val="600"/>
              </a:spcBef>
            </a:pPr>
            <a:r>
              <a:rPr sz="17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700" b="0" i="0">
                <a:solidFill>
                  <a:srgbClr val="0F172A"/>
                </a:solidFill>
                <a:latin typeface="Segoe UI"/>
              </a:rPr>
              <a:t>Flags anomalies to the operator's exception queue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440680" cy="2880360"/>
          </a:xfrm>
          <a:prstGeom prst="rect">
            <a:avLst/>
          </a:prstGeom>
          <a:solidFill>
            <a:srgbClr val="ECFDF5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5803D"/>
                </a:solidFill>
                <a:latin typeface="Segoe UI"/>
              </a:rPr>
              <a:t>👤  What the operator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331720"/>
            <a:ext cx="5074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indent="-381000">
              <a:spcBef>
                <a:spcPts val="600"/>
              </a:spcBef>
            </a:pPr>
            <a:r>
              <a:rPr sz="17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700" b="0" i="0">
                <a:solidFill>
                  <a:srgbClr val="0F172A"/>
                </a:solidFill>
                <a:latin typeface="Segoe UI"/>
              </a:rPr>
              <a:t>Reviews the AI's ranked recommendations — never a done deal</a:t>
            </a:r>
          </a:p>
          <a:p>
            <a:pPr marL="381000" indent="-381000">
              <a:spcBef>
                <a:spcPts val="600"/>
              </a:spcBef>
            </a:pPr>
            <a:r>
              <a:rPr sz="17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700" b="0" i="0">
                <a:solidFill>
                  <a:srgbClr val="0F172A"/>
                </a:solidFill>
                <a:latin typeface="Segoe UI"/>
              </a:rPr>
              <a:t>Runs the policy layer + exception queue: disputes, anomalies</a:t>
            </a:r>
          </a:p>
          <a:p>
            <a:pPr marL="381000" indent="-381000">
              <a:spcBef>
                <a:spcPts val="600"/>
              </a:spcBef>
            </a:pPr>
            <a:r>
              <a:rPr sz="17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700" b="0" i="0">
                <a:solidFill>
                  <a:srgbClr val="0F172A"/>
                </a:solidFill>
                <a:latin typeface="Segoe UI"/>
              </a:rPr>
              <a:t>Approves or rejects each flow — the final call is always human</a:t>
            </a:r>
          </a:p>
          <a:p>
            <a:pPr marL="381000" indent="-381000">
              <a:spcBef>
                <a:spcPts val="600"/>
              </a:spcBef>
            </a:pPr>
            <a:r>
              <a:rPr sz="17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700" b="0" i="0">
                <a:solidFill>
                  <a:srgbClr val="0F172A"/>
                </a:solidFill>
                <a:latin typeface="Segoe UI"/>
              </a:rPr>
              <a:t>Sets pool policy: price floor, max draw per household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46320"/>
            <a:ext cx="11292840" cy="9601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100584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8356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0" i="0">
                <a:solidFill>
                  <a:srgbClr val="0F172A"/>
                </a:solidFill>
                <a:latin typeface="Segoe UI"/>
              </a:rPr>
              <a:t>Why it matters: autonomous AI settlement is how you make the front page for the wrong reason. Trust is the moat — and trust requires a human in the loop.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75569"/>
                </a:solidFill>
                <a:latin typeface="Segoe U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3429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46304" cy="3429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 spc="1900">
                <a:solidFill>
                  <a:srgbClr val="16A34A"/>
                </a:solidFill>
                <a:latin typeface="Segoe U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0F172A"/>
                </a:solidFill>
                <a:latin typeface="Segoe UI"/>
              </a:rPr>
              <a:t>Three things, working together.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83080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7373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Segoe UI"/>
              </a:rPr>
              <a:t>Pool App   —   Next.js + Supabase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157984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75569"/>
                </a:solidFill>
                <a:latin typeface="Segoe UI"/>
              </a:rPr>
              <a:t>Separate seller and operator dashboards. Two-layer auth (seller JWT + operator-only), with Row-Level Security (RLS) so each user sees only their own data.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00400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15468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Segoe UI"/>
              </a:rPr>
              <a:t>Smart Engine   —   Python FastAPI +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575304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75569"/>
                </a:solidFill>
                <a:latin typeface="Segoe UI"/>
              </a:rPr>
              <a:t>AI recommends import / export flows across the pool. The operator policy layer + exception queue reviews every recommendation — HITL by design. AI never settles.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617720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5720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F172A"/>
                </a:solidFill>
                <a:latin typeface="Segoe UI"/>
              </a:rPr>
              <a:t>Settlement Layer   —   Anchor + Metaplex Bubblegum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4992624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75569"/>
                </a:solidFill>
                <a:latin typeface="Segoe UI"/>
              </a:rPr>
              <a:t>Every settlement is recorded on Solana via a custom Anchor program. Sellers earn cNFT badges at contribution milestones — 100 kWh earns the first.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75569"/>
                </a:solidFill>
                <a:latin typeface="Segoe U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3429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46304" cy="3429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 spc="1900">
                <a:solidFill>
                  <a:srgbClr val="16A34A"/>
                </a:solidFill>
                <a:latin typeface="Segoe UI"/>
              </a:rPr>
              <a:t>HOW WE BUILT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0F172A"/>
                </a:solidFill>
                <a:latin typeface="Segoe UI"/>
              </a:rPr>
              <a:t>Boring tools.  Interesting idea.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276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75569"/>
                </a:solidFill>
                <a:latin typeface="Segoe UI"/>
              </a:rPr>
              <a:t>We picked reliable, mainstream tools — so the only hard part is the idea.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  <a:latin typeface="Segoe UI"/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  <a:latin typeface="Segoe UI"/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14884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  <a:latin typeface="Segoe UI"/>
              </a:rPr>
              <a:t>KEY DETAIL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78024"/>
            <a:ext cx="11274552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420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Web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42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803D"/>
                </a:solidFill>
                <a:latin typeface="Segoe UI"/>
              </a:rPr>
              <a:t>Next.js (React)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5420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Segoe UI"/>
              </a:rPr>
              <a:t>Seller + operator dashboards, deployed to Netlify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35224"/>
            <a:ext cx="1127455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992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Backend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9992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803D"/>
                </a:solidFill>
                <a:latin typeface="Segoe UI"/>
              </a:rPr>
              <a:t>Python / 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9992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Segoe UI"/>
              </a:rPr>
              <a:t>AI forecasting + pool policy logic, hosted on Render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92424"/>
            <a:ext cx="11274552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564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Database &amp; 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456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803D"/>
                </a:solidFill>
                <a:latin typeface="Segoe UI"/>
              </a:rPr>
              <a:t>Supabase (Postgres)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4564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Segoe UI"/>
              </a:rPr>
              <a:t>Two-layer auth + RLS per-user isolation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49624"/>
            <a:ext cx="1127455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136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Blockchain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913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803D"/>
                </a:solidFill>
                <a:latin typeface="Segoe UI"/>
              </a:rPr>
              <a:t>Solana / Anchor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9136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Segoe UI"/>
              </a:rPr>
              <a:t>Custom program — every settlement on-chain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06824"/>
            <a:ext cx="11274552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3708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cNFT badges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3708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803D"/>
                </a:solidFill>
                <a:latin typeface="Segoe UI"/>
              </a:rPr>
              <a:t>Metaplex Bubblegum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3708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Segoe UI"/>
              </a:rPr>
              <a:t>Compressed NFTs — cheap to mint, on-chain proof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64024"/>
            <a:ext cx="1127455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8280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Scheduler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828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803D"/>
                </a:solidFill>
                <a:latin typeface="Segoe UI"/>
              </a:rPr>
              <a:t>cron-job.org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8280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Segoe UI"/>
              </a:rPr>
              <a:t>Hourly forecasts, daily commitments, keep-alive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21224"/>
            <a:ext cx="11274552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2852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Hosting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52852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803D"/>
                </a:solidFill>
                <a:latin typeface="Segoe UI"/>
              </a:rPr>
              <a:t>Netlify · Render · Supabase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2852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75569"/>
                </a:solidFill>
                <a:latin typeface="Segoe UI"/>
              </a:rPr>
              <a:t>100% free tier — no credit card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788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75569"/>
                </a:solidFill>
                <a:latin typeface="Segoe UI"/>
              </a:rPr>
              <a:t>Fully deployed. No credit card. No mocks. Real users could sign up today.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75569"/>
                </a:solidFill>
                <a:latin typeface="Segoe U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3429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46304" cy="3429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 spc="1900">
                <a:solidFill>
                  <a:srgbClr val="16A34A"/>
                </a:solidFill>
                <a:latin typeface="Segoe UI"/>
              </a:rPr>
              <a:t>THE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0F172A"/>
                </a:solidFill>
                <a:latin typeface="Segoe UI"/>
              </a:rPr>
              <a:t>Community solar is exploding.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3566160" cy="1143000"/>
          </a:xfrm>
          <a:prstGeom prst="rect">
            <a:avLst/>
          </a:prstGeom>
          <a:solidFill>
            <a:srgbClr val="ECFDF5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9280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803D"/>
                </a:solidFill>
                <a:latin typeface="Segoe UI"/>
              </a:rPr>
              <a:t>$3.2B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973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US community solar market,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4224528" y="1783080"/>
            <a:ext cx="3566160" cy="1143000"/>
          </a:xfrm>
          <a:prstGeom prst="rect">
            <a:avLst/>
          </a:prstGeom>
          <a:solidFill>
            <a:srgbClr val="ECFDF5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89280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803D"/>
                </a:solidFill>
                <a:latin typeface="Segoe UI"/>
              </a:rPr>
              <a:t>19%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245973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Annual growth, year-over-year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1856" y="1783080"/>
            <a:ext cx="3749039" cy="1143000"/>
          </a:xfrm>
          <a:prstGeom prst="rect">
            <a:avLst/>
          </a:prstGeom>
          <a:solidFill>
            <a:srgbClr val="ECFDF5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1892808"/>
            <a:ext cx="3383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803D"/>
                </a:solidFill>
                <a:latin typeface="Segoe UI"/>
              </a:rPr>
              <a:t>1.3M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459736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US households already served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08960"/>
            <a:ext cx="5486400" cy="1143000"/>
          </a:xfrm>
          <a:prstGeom prst="rect">
            <a:avLst/>
          </a:prstGeom>
          <a:solidFill>
            <a:srgbClr val="ECFDF5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1868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803D"/>
                </a:solidFill>
                <a:latin typeface="Segoe UI"/>
              </a:rPr>
              <a:t>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8561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US homes targeted by 2030 (EPA Solar for All)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3108960"/>
            <a:ext cx="5586984" cy="1143000"/>
          </a:xfrm>
          <a:prstGeom prst="rect">
            <a:avLst/>
          </a:prstGeom>
          <a:solidFill>
            <a:srgbClr val="ECFDF5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218688"/>
            <a:ext cx="52212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5803D"/>
                </a:solidFill>
                <a:latin typeface="Segoe UI"/>
              </a:rPr>
              <a:t>$7B → $24B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785616"/>
            <a:ext cx="5221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9"/>
                </a:solidFill>
                <a:latin typeface="Segoe UI"/>
              </a:rPr>
              <a:t>Global Virtual Power Plant market by 2030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17720"/>
            <a:ext cx="11292840" cy="10058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617720"/>
            <a:ext cx="100584" cy="1005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17720"/>
            <a:ext cx="108356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0" i="0">
                <a:solidFill>
                  <a:srgbClr val="0F172A"/>
                </a:solidFill>
                <a:latin typeface="Segoe UI"/>
              </a:rPr>
              <a:t>A Virtual Power Plant (VPP) is a network of distributed energy resources acting as one coordinated source. GridRight is the community-scale VPP layer that doesn't yet exist.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Segoe UI"/>
              </a:rPr>
              <a:t>Sources: NREL · Wood Mackenzie · EPA Solar for All · BloombergNEF 2025 · Rocky Mountain Institute.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75569"/>
                </a:solidFill>
                <a:latin typeface="Segoe U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3429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46304" cy="3429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 spc="1900">
                <a:solidFill>
                  <a:srgbClr val="16A34A"/>
                </a:solidFill>
                <a:latin typeface="Segoe UI"/>
              </a:rPr>
              <a:t>WHERE THIS WORKS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0F172A"/>
                </a:solidFill>
                <a:latin typeface="Segoe UI"/>
              </a:rPr>
              <a:t>18 countries already pay for surplus solar.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75569"/>
                </a:solidFill>
                <a:latin typeface="Segoe UI"/>
              </a:rPr>
              <a:t>Net metering, feed-in tariffs, export guarantees — live right now. GridRight adds the sharing layer on top.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9424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USA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Net metering (state-by-state)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51176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Australia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Feed-in tariff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54096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Germany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EEG feed-in tariff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56432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35584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Japan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FIT surplus purchase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58768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758184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United Kingdom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Smart Export Guarantee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61104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1605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Italy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Scambio Sul Posto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562856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Spain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Surplus compensation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65776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96519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France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Autoconsommation sale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468112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36752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Belgium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Flanders net metering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249424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21488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Denmark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Net metering up to 6 kW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651760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2551176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Canada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Ontario, Alberta, BC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054096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295351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India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Rooftop net metering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456432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9672" y="335584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Brazil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REN 482/2012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858768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9672" y="3758184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Mexico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Residential net metering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261104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9672" y="41605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South Africa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Feed-in tariff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663440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9672" y="4562856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Israel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Net metering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5065776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9672" y="4965192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Netherlands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Saldering net metering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5468112"/>
            <a:ext cx="118872" cy="11887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9672" y="5367528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0F172A"/>
                </a:solidFill>
                <a:latin typeface="Segoe UI"/>
              </a:rPr>
              <a:t>South Korea  </a:t>
            </a:r>
            <a:r>
              <a:rPr sz="1700" b="0" i="0">
                <a:solidFill>
                  <a:srgbClr val="475569"/>
                </a:solidFill>
                <a:latin typeface="Segoe UI"/>
              </a:rPr>
              <a:t>—  RPS surplus purchase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Segoe UI"/>
              </a:rPr>
              <a:t>Sources: IEA Renewables 2024 · Fraunhofer ISE · Clean Energy Council AU · METI Japan · Ofgem UK.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75569"/>
                </a:solidFill>
                <a:latin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3429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46304" cy="3429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 spc="1900">
                <a:solidFill>
                  <a:srgbClr val="16A34A"/>
                </a:solidFill>
                <a:latin typeface="Segoe UI"/>
              </a:rPr>
              <a:t>FUTURE &amp;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0F172A"/>
                </a:solidFill>
                <a:latin typeface="Segoe UI"/>
              </a:rPr>
              <a:t>Where this goes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5440680" cy="3154680"/>
          </a:xfrm>
          <a:prstGeom prst="rect">
            <a:avLst/>
          </a:prstGeom>
          <a:solidFill>
            <a:srgbClr val="ECFDF5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019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803D"/>
                </a:solidFill>
                <a:latin typeface="Segoe UI"/>
              </a:rPr>
              <a:t>🚀 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59152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indent="-381000">
              <a:spcBef>
                <a:spcPts val="600"/>
              </a:spcBef>
            </a:pPr>
            <a:r>
              <a:rPr sz="17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700" b="0" i="0">
                <a:solidFill>
                  <a:srgbClr val="0F172A"/>
                </a:solidFill>
                <a:latin typeface="Segoe UI"/>
              </a:rPr>
              <a:t>Pilot with a US community solar program (MN, NY)</a:t>
            </a:r>
          </a:p>
          <a:p>
            <a:pPr marL="381000" indent="-381000">
              <a:spcBef>
                <a:spcPts val="600"/>
              </a:spcBef>
            </a:pPr>
            <a:r>
              <a:rPr sz="17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700" b="0" i="0">
                <a:solidFill>
                  <a:srgbClr val="0F172A"/>
                </a:solidFill>
                <a:latin typeface="Segoe UI"/>
              </a:rPr>
              <a:t>Add battery storage + EV charging to the pool</a:t>
            </a:r>
          </a:p>
          <a:p>
            <a:pPr marL="381000" indent="-381000">
              <a:spcBef>
                <a:spcPts val="600"/>
              </a:spcBef>
            </a:pPr>
            <a:r>
              <a:rPr sz="17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700" b="0" i="0">
                <a:solidFill>
                  <a:srgbClr val="0F172A"/>
                </a:solidFill>
                <a:latin typeface="Segoe UI"/>
              </a:rPr>
              <a:t>White-label for utilities and energy co-ops</a:t>
            </a:r>
          </a:p>
          <a:p>
            <a:pPr marL="381000" indent="-381000">
              <a:spcBef>
                <a:spcPts val="600"/>
              </a:spcBef>
            </a:pPr>
            <a:r>
              <a:rPr sz="17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700" b="0" i="0">
                <a:solidFill>
                  <a:srgbClr val="0F172A"/>
                </a:solidFill>
                <a:latin typeface="Segoe UI"/>
              </a:rPr>
              <a:t>VPP interoperability via the OpenADR standard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83080"/>
            <a:ext cx="5440680" cy="3154680"/>
          </a:xfrm>
          <a:prstGeom prst="rect">
            <a:avLst/>
          </a:prstGeom>
          <a:solidFill>
            <a:srgbClr val="ECFDF5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9019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5803D"/>
                </a:solidFill>
                <a:latin typeface="Segoe UI"/>
              </a:rPr>
              <a:t>💰  How we make 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359152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indent="-381000">
              <a:spcBef>
                <a:spcPts val="600"/>
              </a:spcBef>
            </a:pPr>
            <a:r>
              <a:rPr sz="17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700" b="0" i="0">
                <a:solidFill>
                  <a:srgbClr val="0F172A"/>
                </a:solidFill>
                <a:latin typeface="Segoe UI"/>
              </a:rPr>
              <a:t>1–2% transaction fee on every pool settlement</a:t>
            </a:r>
          </a:p>
          <a:p>
            <a:pPr marL="381000" indent="-381000">
              <a:spcBef>
                <a:spcPts val="600"/>
              </a:spcBef>
            </a:pPr>
            <a:r>
              <a:rPr sz="17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700" b="0" i="0">
                <a:solidFill>
                  <a:srgbClr val="0F172A"/>
                </a:solidFill>
                <a:latin typeface="Segoe UI"/>
              </a:rPr>
              <a:t>SaaS subscription for utility / co-op operators</a:t>
            </a:r>
          </a:p>
          <a:p>
            <a:pPr marL="381000" indent="-381000">
              <a:spcBef>
                <a:spcPts val="600"/>
              </a:spcBef>
            </a:pPr>
            <a:r>
              <a:rPr sz="17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700" b="0" i="0">
                <a:solidFill>
                  <a:srgbClr val="0F172A"/>
                </a:solidFill>
                <a:latin typeface="Segoe UI"/>
              </a:rPr>
              <a:t>Premium AI forecasting for grid operators</a:t>
            </a:r>
          </a:p>
          <a:p>
            <a:pPr marL="381000" indent="-381000">
              <a:spcBef>
                <a:spcPts val="600"/>
              </a:spcBef>
            </a:pPr>
            <a:r>
              <a:rPr sz="17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700" b="0" i="0">
                <a:solidFill>
                  <a:srgbClr val="0F172A"/>
                </a:solidFill>
                <a:latin typeface="Segoe UI"/>
              </a:rPr>
              <a:t>cNFT badge marketplace &amp; sponsorships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663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5803D"/>
                </a:solidFill>
                <a:latin typeface="Segoe UI"/>
              </a:rPr>
              <a:t>Small fees  ·  Large volume  ·  Real network effects.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75569"/>
                </a:solidFill>
                <a:latin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3429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46304" cy="3429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 spc="1900">
                <a:solidFill>
                  <a:srgbClr val="16A34A"/>
                </a:solidFill>
                <a:latin typeface="Segoe UI"/>
              </a:rPr>
              <a:t>WHY THIS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0F172A"/>
                </a:solidFill>
                <a:latin typeface="Segoe UI"/>
              </a:rPr>
              <a:t>Rare.  Proven.  Live.  Inclusive.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1247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indent="-381000">
              <a:spcBef>
                <a:spcPts val="500"/>
              </a:spcBef>
            </a:pPr>
            <a:r>
              <a:rPr sz="18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Rare — almost no one runs an operator-governed community solar pool with real on-chain settlement.</a:t>
            </a:r>
          </a:p>
          <a:p>
            <a:pPr marL="381000" indent="-381000">
              <a:spcBef>
                <a:spcPts val="500"/>
              </a:spcBef>
            </a:pPr>
            <a:r>
              <a:rPr sz="18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Proven market — 18 countries already pay for surplus solar; we add the sharing layer on top.</a:t>
            </a:r>
          </a:p>
          <a:p>
            <a:pPr marL="381000" indent="-381000">
              <a:spcBef>
                <a:spcPts val="500"/>
              </a:spcBef>
            </a:pPr>
            <a:r>
              <a:rPr sz="18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Live today — not a slide deck, a running app.  gridright.netlify.app  →  sign up now.</a:t>
            </a:r>
          </a:p>
          <a:p>
            <a:pPr marL="381000" indent="-381000">
              <a:spcBef>
                <a:spcPts val="500"/>
              </a:spcBef>
            </a:pPr>
            <a:r>
              <a:rPr sz="18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Inclusive — works for renters and apartments, not just homeowners. Anyone in the pool benefits.</a:t>
            </a:r>
          </a:p>
          <a:p>
            <a:pPr marL="381000" indent="-381000">
              <a:spcBef>
                <a:spcPts val="500"/>
              </a:spcBef>
            </a:pPr>
            <a:r>
              <a:rPr sz="18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Open by design — HITL: AI recommends, the operator decides. Trust is the moat scale can't copy.</a:t>
            </a:r>
          </a:p>
          <a:p>
            <a:pPr marL="381000" indent="-381000">
              <a:spcBef>
                <a:spcPts val="500"/>
              </a:spcBef>
            </a:pPr>
            <a:r>
              <a:rPr sz="1800" b="1" i="0">
                <a:solidFill>
                  <a:srgbClr val="16A34A"/>
                </a:solidFill>
                <a:latin typeface="Segoe UI"/>
              </a:rPr>
              <a:t>✓   </a:t>
            </a:r>
            <a:r>
              <a:rPr sz="1800" b="0" i="0">
                <a:solidFill>
                  <a:srgbClr val="0F172A"/>
                </a:solidFill>
                <a:latin typeface="Segoe UI"/>
              </a:rPr>
              <a:t>First-mover — community solar + Solana settlement + cNFT badges in a single, deployed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4068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15803D"/>
                </a:solidFill>
                <a:latin typeface="Segoe UI"/>
              </a:rPr>
              <a:t>Thank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75569"/>
                </a:solidFill>
                <a:latin typeface="Segoe UI"/>
              </a:rPr>
              <a:t>gridright.netlify.app  ·  github.com/Gauravpoudel7/gridright  ·  Built by Gaurav Poudel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55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75569"/>
                </a:solidFill>
                <a:latin typeface="Segoe U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